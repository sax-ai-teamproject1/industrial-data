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6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6858000" cx="12191675"/>
  <p:notesSz cx="6858000" cy="9144000"/>
  <p:embeddedFontLst>
    <p:embeddedFont>
      <p:font typeface="Noto Sans KR"/>
      <p:regular r:id="rId24"/>
      <p:bold r:id="rId25"/>
    </p:embeddedFont>
    <p:embeddedFont>
      <p:font typeface="Poppi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gJGm2y+KnEr7w+zJNY+Pkj+TY2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C9FB057-EEBE-4651-AE46-EF2F79724C72}">
  <a:tblStyle styleId="{1C9FB057-EEBE-4651-AE46-EF2F79724C7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NotoSansKR-regular.fntdata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Poppins-regular.fntdata"/><Relationship Id="rId25" Type="http://schemas.openxmlformats.org/officeDocument/2006/relationships/font" Target="fonts/NotoSansKR-bold.fntdata"/><Relationship Id="rId28" Type="http://schemas.openxmlformats.org/officeDocument/2006/relationships/font" Target="fonts/Poppins-italic.fntdata"/><Relationship Id="rId27" Type="http://schemas.openxmlformats.org/officeDocument/2006/relationships/font" Target="fonts/Poppins-bold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oppins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customschemas.google.com/relationships/presentationmetadata" Target="meta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5f3f2c477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f5f3f2c477_2_75:notes"/>
          <p:cNvSpPr/>
          <p:nvPr>
            <p:ph idx="2" type="sldImg"/>
          </p:nvPr>
        </p:nvSpPr>
        <p:spPr>
          <a:xfrm>
            <a:off x="1143286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5f3f2c477_2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g3f5f3f2c477_2_102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5f3f2c477_2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g3f5f3f2c477_2_119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f5f3f2c477_2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f5f3f2c477_2_138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5f3f2c477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g3f5f3f2c477_6_0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5f3f2c477_2_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g3f5f3f2c477_2_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g3f5f3f2c477_2_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5f3f2c477_2_10"/>
          <p:cNvSpPr txBox="1"/>
          <p:nvPr>
            <p:ph type="ctrTitle"/>
          </p:nvPr>
        </p:nvSpPr>
        <p:spPr>
          <a:xfrm>
            <a:off x="685782" y="2130425"/>
            <a:ext cx="7772193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f5f3f2c477_2_10"/>
          <p:cNvSpPr txBox="1"/>
          <p:nvPr>
            <p:ph idx="1" type="subTitle"/>
          </p:nvPr>
        </p:nvSpPr>
        <p:spPr>
          <a:xfrm>
            <a:off x="1371563" y="3886200"/>
            <a:ext cx="6400629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g3f5f3f2c477_2_10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f5f3f2c477_2_10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g3f5f3f2c477_2_10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f3f2c477_2_16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f5f3f2c477_2_16"/>
          <p:cNvSpPr txBox="1"/>
          <p:nvPr>
            <p:ph idx="1" type="body"/>
          </p:nvPr>
        </p:nvSpPr>
        <p:spPr>
          <a:xfrm>
            <a:off x="457188" y="1600200"/>
            <a:ext cx="8229381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g3f5f3f2c477_2_1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f5f3f2c477_2_1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g3f5f3f2c477_2_1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5f3f2c477_2_22"/>
          <p:cNvSpPr txBox="1"/>
          <p:nvPr>
            <p:ph type="title"/>
          </p:nvPr>
        </p:nvSpPr>
        <p:spPr>
          <a:xfrm>
            <a:off x="722294" y="4406900"/>
            <a:ext cx="7772193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f5f3f2c477_2_22"/>
          <p:cNvSpPr txBox="1"/>
          <p:nvPr>
            <p:ph idx="1" type="body"/>
          </p:nvPr>
        </p:nvSpPr>
        <p:spPr>
          <a:xfrm>
            <a:off x="722294" y="2906713"/>
            <a:ext cx="7772193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g3f5f3f2c477_2_22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5f3f2c477_2_22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g3f5f3f2c477_2_22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5f3f2c477_2_28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g3f5f3f2c477_2_28"/>
          <p:cNvSpPr txBox="1"/>
          <p:nvPr>
            <p:ph idx="1" type="body"/>
          </p:nvPr>
        </p:nvSpPr>
        <p:spPr>
          <a:xfrm>
            <a:off x="457188" y="1600200"/>
            <a:ext cx="4038492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1" name="Google Shape;111;g3f5f3f2c477_2_28"/>
          <p:cNvSpPr txBox="1"/>
          <p:nvPr>
            <p:ph idx="2" type="body"/>
          </p:nvPr>
        </p:nvSpPr>
        <p:spPr>
          <a:xfrm>
            <a:off x="4648076" y="1600200"/>
            <a:ext cx="4038492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2" name="Google Shape;112;g3f5f3f2c477_2_28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g3f5f3f2c477_2_28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f5f3f2c477_2_28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5f3f2c477_2_35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g3f5f3f2c477_2_35"/>
          <p:cNvSpPr txBox="1"/>
          <p:nvPr>
            <p:ph idx="1" type="body"/>
          </p:nvPr>
        </p:nvSpPr>
        <p:spPr>
          <a:xfrm>
            <a:off x="457188" y="1535113"/>
            <a:ext cx="4040080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g3f5f3f2c477_2_35"/>
          <p:cNvSpPr txBox="1"/>
          <p:nvPr>
            <p:ph idx="2" type="body"/>
          </p:nvPr>
        </p:nvSpPr>
        <p:spPr>
          <a:xfrm>
            <a:off x="457188" y="2174875"/>
            <a:ext cx="4040080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9" name="Google Shape;119;g3f5f3f2c477_2_35"/>
          <p:cNvSpPr txBox="1"/>
          <p:nvPr>
            <p:ph idx="3" type="body"/>
          </p:nvPr>
        </p:nvSpPr>
        <p:spPr>
          <a:xfrm>
            <a:off x="4644901" y="1535113"/>
            <a:ext cx="404166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g3f5f3f2c477_2_35"/>
          <p:cNvSpPr txBox="1"/>
          <p:nvPr>
            <p:ph idx="4" type="body"/>
          </p:nvPr>
        </p:nvSpPr>
        <p:spPr>
          <a:xfrm>
            <a:off x="4644901" y="2174875"/>
            <a:ext cx="404166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g3f5f3f2c477_2_35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g3f5f3f2c477_2_35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g3f5f3f2c477_2_35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5f3f2c477_2_44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g3f5f3f2c477_2_44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g3f5f3f2c477_2_44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f5f3f2c477_2_44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5f3f2c477_2_49"/>
          <p:cNvSpPr txBox="1"/>
          <p:nvPr>
            <p:ph type="title"/>
          </p:nvPr>
        </p:nvSpPr>
        <p:spPr>
          <a:xfrm>
            <a:off x="457188" y="273050"/>
            <a:ext cx="300823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f5f3f2c477_2_49"/>
          <p:cNvSpPr txBox="1"/>
          <p:nvPr>
            <p:ph idx="1" type="body"/>
          </p:nvPr>
        </p:nvSpPr>
        <p:spPr>
          <a:xfrm>
            <a:off x="3574955" y="273050"/>
            <a:ext cx="5111614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g3f5f3f2c477_2_49"/>
          <p:cNvSpPr txBox="1"/>
          <p:nvPr>
            <p:ph idx="2" type="body"/>
          </p:nvPr>
        </p:nvSpPr>
        <p:spPr>
          <a:xfrm>
            <a:off x="457188" y="1435100"/>
            <a:ext cx="300823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g3f5f3f2c477_2_49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f5f3f2c477_2_49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g3f5f3f2c477_2_49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5f3f2c477_2_56"/>
          <p:cNvSpPr txBox="1"/>
          <p:nvPr>
            <p:ph type="title"/>
          </p:nvPr>
        </p:nvSpPr>
        <p:spPr>
          <a:xfrm>
            <a:off x="1792240" y="4800600"/>
            <a:ext cx="5486254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g3f5f3f2c477_2_56"/>
          <p:cNvSpPr/>
          <p:nvPr>
            <p:ph idx="2" type="pic"/>
          </p:nvPr>
        </p:nvSpPr>
        <p:spPr>
          <a:xfrm>
            <a:off x="1792240" y="612775"/>
            <a:ext cx="5486254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g3f5f3f2c477_2_56"/>
          <p:cNvSpPr txBox="1"/>
          <p:nvPr>
            <p:ph idx="1" type="body"/>
          </p:nvPr>
        </p:nvSpPr>
        <p:spPr>
          <a:xfrm>
            <a:off x="1792240" y="5367338"/>
            <a:ext cx="5486254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g3f5f3f2c477_2_5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g3f5f3f2c477_2_5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g3f5f3f2c477_2_5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5f3f2c477_2_63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g3f5f3f2c477_2_63"/>
          <p:cNvSpPr txBox="1"/>
          <p:nvPr>
            <p:ph idx="1" type="body"/>
          </p:nvPr>
        </p:nvSpPr>
        <p:spPr>
          <a:xfrm rot="5400000">
            <a:off x="2308897" y="-251509"/>
            <a:ext cx="4525963" cy="82293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g3f5f3f2c477_2_63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g3f5f3f2c477_2_63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g3f5f3f2c477_2_63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5f3f2c477_2_69"/>
          <p:cNvSpPr txBox="1"/>
          <p:nvPr>
            <p:ph type="title"/>
          </p:nvPr>
        </p:nvSpPr>
        <p:spPr>
          <a:xfrm rot="5400000">
            <a:off x="4732133" y="2171728"/>
            <a:ext cx="5851525" cy="20573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g3f5f3f2c477_2_69"/>
          <p:cNvSpPr txBox="1"/>
          <p:nvPr>
            <p:ph idx="1" type="body"/>
          </p:nvPr>
        </p:nvSpPr>
        <p:spPr>
          <a:xfrm rot="5400000">
            <a:off x="541245" y="190581"/>
            <a:ext cx="5851525" cy="6019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g3f5f3f2c477_2_69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5f3f2c477_2_69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g3f5f3f2c477_2_69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f3f2c477_2_0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2" name="Google Shape;82;g3f5f3f2c477_2_0"/>
          <p:cNvSpPr txBox="1"/>
          <p:nvPr>
            <p:ph idx="1" type="body"/>
          </p:nvPr>
        </p:nvSpPr>
        <p:spPr>
          <a:xfrm>
            <a:off x="457188" y="1600200"/>
            <a:ext cx="8229381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g3f5f3f2c477_2_0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g3f5f3f2c477_2_0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g3f5f3f2c477_2_0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9.png"/><Relationship Id="rId8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9" Type="http://schemas.openxmlformats.org/officeDocument/2006/relationships/image" Target="../media/image1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2.png"/><Relationship Id="rId10" Type="http://schemas.openxmlformats.org/officeDocument/2006/relationships/image" Target="../media/image21.png"/><Relationship Id="rId9" Type="http://schemas.openxmlformats.org/officeDocument/2006/relationships/image" Target="../media/image25.png"/><Relationship Id="rId5" Type="http://schemas.openxmlformats.org/officeDocument/2006/relationships/image" Target="../media/image8.png"/><Relationship Id="rId6" Type="http://schemas.openxmlformats.org/officeDocument/2006/relationships/image" Target="../media/image3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9" Type="http://schemas.openxmlformats.org/officeDocument/2006/relationships/image" Target="../media/image20.png"/><Relationship Id="rId5" Type="http://schemas.openxmlformats.org/officeDocument/2006/relationships/image" Target="../media/image18.png"/><Relationship Id="rId6" Type="http://schemas.openxmlformats.org/officeDocument/2006/relationships/image" Target="../media/image17.png"/><Relationship Id="rId7" Type="http://schemas.openxmlformats.org/officeDocument/2006/relationships/image" Target="../media/image27.png"/><Relationship Id="rId8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8.png"/><Relationship Id="rId5" Type="http://schemas.openxmlformats.org/officeDocument/2006/relationships/image" Target="../media/image23.png"/><Relationship Id="rId6" Type="http://schemas.openxmlformats.org/officeDocument/2006/relationships/image" Target="../media/image31.png"/><Relationship Id="rId7" Type="http://schemas.openxmlformats.org/officeDocument/2006/relationships/image" Target="../media/image29.png"/><Relationship Id="rId8" Type="http://schemas.openxmlformats.org/officeDocument/2006/relationships/image" Target="../media/image3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스마트 안전장비 도입 효과 분석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CFDAE8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비율검정(Two-proportion test) 기반 통계 검증</a:t>
            </a:r>
            <a:endParaRPr/>
          </a:p>
        </p:txBody>
      </p:sp>
      <p:sp>
        <p:nvSpPr>
          <p:cNvPr id="161" name="Google Shape;161;p1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FBED0"/>
                </a:solidFill>
                <a:latin typeface="Malgun Gothic"/>
                <a:ea typeface="Malgun Gothic"/>
                <a:cs typeface="Malgun Gothic"/>
                <a:sym typeface="Malgun Gothic"/>
              </a:rPr>
              <a:t>K-NAVI · industrial-data  |  근거: 류정·박인선(2025), Crisisonomy 21(6) / News1(2024)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 · 목표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로봇 도입만으로 사고가 줄어드는지 통계로 확인한다</a:t>
            </a:r>
            <a:endParaRPr/>
          </a:p>
        </p:txBody>
      </p:sp>
      <p:sp>
        <p:nvSpPr>
          <p:cNvPr id="168" name="Google Shape;168;p2"/>
          <p:cNvSpPr txBox="1"/>
          <p:nvPr/>
        </p:nvSpPr>
        <p:spPr>
          <a:xfrm>
            <a:off x="822960" y="201168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가설: 스마트장비·로봇 도입이 산업재해(재해율)를 줄이는가?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접근: 도입 현장과 전국 평균의 재해율을 정형데이터 분석으로 비교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재해율은 '재해 발생 여부'의 비율 데이터 → 평균 비교(t-검정)가 아니라 비율검정이 적합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결과를 K-NAVI(정밀 인지·소통 보완 기술)의 필요성 근거로 연결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데이터</a:t>
            </a:r>
            <a:endParaRPr/>
          </a:p>
        </p:txBody>
      </p:sp>
      <p:sp>
        <p:nvSpPr>
          <p:cNvPr id="174" name="Google Shape;174;p3"/>
          <p:cNvSpPr txBox="1"/>
          <p:nvPr/>
        </p:nvSpPr>
        <p:spPr>
          <a:xfrm>
            <a:off x="822960" y="137160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전국 중소규모 건설현장(2023): 근로자 576,224명 · 사고 2,656명(사망 171 + 부상 2,485) · 재해율 0.461%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스마트 안전장비 지원현장 123개소(2021~2023): 근로자 4,481명 · 사고 16명(사망 1 + 부상 15) · 재해율 0.357%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출처: 류정·박인선(2025), 「건설현장의 스마트 안전장비 성능과 도입 효과 분석」, Crisisonomy / News1(2024)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배경 통계: 고용노동부 산업재해현황, IFR 로봇밀도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 효과 (1) — 사고재해율 비교</a:t>
            </a:r>
            <a:endParaRPr/>
          </a:p>
        </p:txBody>
      </p:sp>
      <p:pic>
        <p:nvPicPr>
          <p:cNvPr descr="10_스마트안전장비_지원현장_사고재해율_비교.png" id="180" name="Google Shape;18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5882" y="1234440"/>
            <a:ext cx="6239930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4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평균 0.461% → 지원현장 0.357% (상대 -22.56%) → 본 연구 현장 0%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 효과 (2) — 사망자 · 부상자 수</a:t>
            </a:r>
            <a:endParaRPr/>
          </a:p>
        </p:txBody>
      </p:sp>
      <p:pic>
        <p:nvPicPr>
          <p:cNvPr descr="11_스마트안전장비_사망자_부상자_비교.png" id="187" name="Google Shape;18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02489" y="1234440"/>
            <a:ext cx="8786716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5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절대 건수는 모집단 규모(576,224 vs 4,481) 차이를 반영 — 규모 보정 비교는 재해율(%) 기준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방법 — 비율검정</a:t>
            </a:r>
            <a:endParaRPr/>
          </a:p>
        </p:txBody>
      </p:sp>
      <p:sp>
        <p:nvSpPr>
          <p:cNvPr id="194" name="Google Shape;194;p6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H0는 목표와 반대로 '효과 없음'에 두고, 데이터로 뒤집을 수 있는지 본다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822960" y="201168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귀무가설 H0: 전국과 도입현장의 재해율이 같다 (효과 없음)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대립가설 H1: 도입현장 재해율이 더 낮다 (단측, α=0.05)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① 2표본 비율 Z-검정 (정규근사)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② Fisher 정확검정 (사고가 드문 사건이라 근사 없이 정확 확률로 재확인)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③ 95% 신뢰구간으로 차이의 크기·불확실성 제시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(1) — 2표본 비율 Z-검정</a:t>
            </a:r>
            <a:endParaRPr/>
          </a:p>
        </p:txBody>
      </p:sp>
      <p:pic>
        <p:nvPicPr>
          <p:cNvPr descr="01_Z검정_정규분포_기각역.png" id="201" name="Google Shape;2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3398" y="1234440"/>
            <a:ext cx="7644899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7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관측 z=1.023 &lt; 임계값 1.645 → 기각역 밖 → 유의하지 않음 (단측 p=0.153)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(2) — Fisher 정확검정</a:t>
            </a:r>
            <a:endParaRPr/>
          </a:p>
        </p:txBody>
      </p:sp>
      <p:pic>
        <p:nvPicPr>
          <p:cNvPr descr="02_Fisher_초기하분포_p값.png" id="208" name="Google Shape;20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3398" y="1234440"/>
            <a:ext cx="7644899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8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관측 16건 vs H0 기대 20.6건 · P(X≤16)=0.182 = Fisher p · OR=0.774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종합 결과</a:t>
            </a:r>
            <a:endParaRPr/>
          </a:p>
        </p:txBody>
      </p:sp>
      <p:graphicFrame>
        <p:nvGraphicFramePr>
          <p:cNvPr id="215" name="Google Shape;215;p9"/>
          <p:cNvGraphicFramePr/>
          <p:nvPr/>
        </p:nvGraphicFramePr>
        <p:xfrm>
          <a:off x="1097280" y="17373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{1C9FB057-EEBE-4651-AE46-EF2F79724C72}</a:tableStyleId>
              </a:tblPr>
              <a:tblGrid>
                <a:gridCol w="3931925"/>
                <a:gridCol w="3291850"/>
                <a:gridCol w="2743200"/>
              </a:tblGrid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검정 방법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통계량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 여부(α=0.05)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2표본 비율 Z-검정 (단측)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z=1.023, p=0.153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Fisher 정확검정 (단측)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OR=0.774, p=0.182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95% 신뢰구간 (차이)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[-0.072%p, 0.279%p]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 포함 → 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6" name="Google Shape;216;p9"/>
          <p:cNvSpPr txBox="1"/>
          <p:nvPr/>
        </p:nvSpPr>
        <p:spPr>
          <a:xfrm>
            <a:off x="1097280" y="4846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방법 모두 결론 일치: 관찰된 감소는 방향성만 있고 통계적으로 유의하지 않음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결론 · 해석</a:t>
            </a:r>
            <a:endParaRPr/>
          </a:p>
        </p:txBody>
      </p:sp>
      <p:sp>
        <p:nvSpPr>
          <p:cNvPr id="222" name="Google Shape;222;p10"/>
          <p:cNvSpPr txBox="1"/>
          <p:nvPr/>
        </p:nvSpPr>
        <p:spPr>
          <a:xfrm>
            <a:off x="640080" y="1261475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방향은 감소, 그러나 확정 입증에는 데이터가 더 필요</a:t>
            </a:r>
            <a:endParaRPr/>
          </a:p>
        </p:txBody>
      </p:sp>
      <p:sp>
        <p:nvSpPr>
          <p:cNvPr id="223" name="Google Shape;223;p10"/>
          <p:cNvSpPr txBox="1"/>
          <p:nvPr/>
        </p:nvSpPr>
        <p:spPr>
          <a:xfrm>
            <a:off x="640075" y="1748500"/>
            <a:ext cx="10698600" cy="49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도입현장 재해율이 전국 평균 대비 22.56% 낮게 관찰됨 (0.357% vs 0.461%)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그러나 통계적 유의성은 확인되지 않음 (Fisher p≈0.18, 95% CI가 0 포함)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원인: 사고는 드문 사건 + 도입현장 표본(4,481명·16건)이 작아 검정력 부족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'유의하지 않음'은 '효과 없음'의 증명이 아니라 '판단 보류'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→ 방향성 있는 정황 근거로서 K-NAVI 같은 정밀 안전기술과 데이터 축적의 필요성을 뒷받침</a:t>
            </a:r>
            <a:endParaRPr b="0" i="0" sz="1800" u="none" cap="none" strike="noStrike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가지 실증 자료가 증명하는 공통 결론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산업 분야에서 일관된 사고 감소 효과 확인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건설현장: 스마트 안전 장비 적용 시 재해율 22.56%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제조현장: 스마트공장 구축 시 산업재해 18.3%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로봇도입: 위험 업무 대체로 중증 장애 사고 16.9%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정부 보고서: 지능형 공장 도입 시 산업재해 6.2%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4가지 실증 데이터 모두가 ‘스마트 기술이 사고를 줄인다’는 확실한 방향성을 증명합니다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g3f5f3f2c477_2_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4" cy="685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g3f5f3f2c477_2_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85" y="4438501"/>
            <a:ext cx="11048704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g3f5f3f2c477_2_7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4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g3f5f3f2c477_2_7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812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g3f5f3f2c477_2_7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0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g3f5f3f2c477_2_7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0008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g3f5f3f2c477_2_7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56485" y="581025"/>
            <a:ext cx="166370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g3f5f3f2c477_2_75"/>
          <p:cNvSpPr txBox="1"/>
          <p:nvPr/>
        </p:nvSpPr>
        <p:spPr>
          <a:xfrm>
            <a:off x="809603" y="4590901"/>
            <a:ext cx="1062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73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0369A1"/>
                </a:solidFill>
                <a:latin typeface="Noto Sans KR"/>
                <a:ea typeface="Noto Sans KR"/>
                <a:cs typeface="Noto Sans KR"/>
                <a:sym typeface="Noto Sans KR"/>
              </a:rPr>
              <a:t>주요 핵심 결론: 건설, 제조, 로봇 자동화 등 주요 산업 현장 전반에서 스마트 안전기술 및 자동화 장비 도입이 산업재해율을 명확히 낮추는 방향성을 입증하고 있습니다.</a:t>
            </a:r>
            <a:endParaRPr/>
          </a:p>
        </p:txBody>
      </p:sp>
      <p:sp>
        <p:nvSpPr>
          <p:cNvPr id="236" name="Google Shape;236;g3f5f3f2c477_2_75"/>
          <p:cNvSpPr txBox="1"/>
          <p:nvPr/>
        </p:nvSpPr>
        <p:spPr>
          <a:xfrm>
            <a:off x="771504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22.6%↓</a:t>
            </a:r>
            <a:endParaRPr/>
          </a:p>
        </p:txBody>
      </p:sp>
      <p:sp>
        <p:nvSpPr>
          <p:cNvPr id="237" name="Google Shape;237;g3f5f3f2c477_2_75"/>
          <p:cNvSpPr txBox="1"/>
          <p:nvPr/>
        </p:nvSpPr>
        <p:spPr>
          <a:xfrm>
            <a:off x="771504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안전장비</a:t>
            </a:r>
            <a:endParaRPr/>
          </a:p>
        </p:txBody>
      </p:sp>
      <p:sp>
        <p:nvSpPr>
          <p:cNvPr id="238" name="Google Shape;238;g3f5f3f2c477_2_75"/>
          <p:cNvSpPr txBox="1"/>
          <p:nvPr/>
        </p:nvSpPr>
        <p:spPr>
          <a:xfrm>
            <a:off x="771504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국토교통부 건설현장(123곳) 사고발생률 감소 (0.357% vs 0.461%)</a:t>
            </a:r>
            <a:endParaRPr/>
          </a:p>
        </p:txBody>
      </p:sp>
      <p:sp>
        <p:nvSpPr>
          <p:cNvPr id="239" name="Google Shape;239;g3f5f3f2c477_2_75"/>
          <p:cNvSpPr txBox="1"/>
          <p:nvPr/>
        </p:nvSpPr>
        <p:spPr>
          <a:xfrm>
            <a:off x="35813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18.3%↓</a:t>
            </a:r>
            <a:endParaRPr/>
          </a:p>
        </p:txBody>
      </p:sp>
      <p:sp>
        <p:nvSpPr>
          <p:cNvPr id="240" name="Google Shape;240;g3f5f3f2c477_2_75"/>
          <p:cNvSpPr txBox="1"/>
          <p:nvPr/>
        </p:nvSpPr>
        <p:spPr>
          <a:xfrm>
            <a:off x="35813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(PSM)</a:t>
            </a:r>
            <a:endParaRPr/>
          </a:p>
        </p:txBody>
      </p:sp>
      <p:sp>
        <p:nvSpPr>
          <p:cNvPr id="241" name="Google Shape;241;g3f5f3f2c477_2_75"/>
          <p:cNvSpPr txBox="1"/>
          <p:nvPr/>
        </p:nvSpPr>
        <p:spPr>
          <a:xfrm>
            <a:off x="35813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행정데이터 기반 통계적 정밀 분석을 통한 산재 감소율</a:t>
            </a:r>
            <a:endParaRPr/>
          </a:p>
        </p:txBody>
      </p:sp>
      <p:sp>
        <p:nvSpPr>
          <p:cNvPr id="242" name="Google Shape;242;g3f5f3f2c477_2_75"/>
          <p:cNvSpPr txBox="1"/>
          <p:nvPr/>
        </p:nvSpPr>
        <p:spPr>
          <a:xfrm>
            <a:off x="63911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16.9%↓</a:t>
            </a:r>
            <a:endParaRPr/>
          </a:p>
        </p:txBody>
      </p:sp>
      <p:sp>
        <p:nvSpPr>
          <p:cNvPr id="243" name="Google Shape;243;g3f5f3f2c477_2_75"/>
          <p:cNvSpPr txBox="1"/>
          <p:nvPr/>
        </p:nvSpPr>
        <p:spPr>
          <a:xfrm>
            <a:off x="63911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도입 (중증산재)</a:t>
            </a:r>
            <a:endParaRPr/>
          </a:p>
        </p:txBody>
      </p:sp>
      <p:sp>
        <p:nvSpPr>
          <p:cNvPr id="244" name="Google Shape;244;g3f5f3f2c477_2_75"/>
          <p:cNvSpPr txBox="1"/>
          <p:nvPr/>
        </p:nvSpPr>
        <p:spPr>
          <a:xfrm>
            <a:off x="63911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위험·육체 노동 재배치를 통한 영구 장애 등 중증 재해 감소</a:t>
            </a:r>
            <a:endParaRPr/>
          </a:p>
        </p:txBody>
      </p:sp>
      <p:sp>
        <p:nvSpPr>
          <p:cNvPr id="245" name="Google Shape;245;g3f5f3f2c477_2_75"/>
          <p:cNvSpPr txBox="1"/>
          <p:nvPr/>
        </p:nvSpPr>
        <p:spPr>
          <a:xfrm>
            <a:off x="92009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6.2%↓</a:t>
            </a:r>
            <a:endParaRPr/>
          </a:p>
        </p:txBody>
      </p:sp>
      <p:sp>
        <p:nvSpPr>
          <p:cNvPr id="246" name="Google Shape;246;g3f5f3f2c477_2_75"/>
          <p:cNvSpPr txBox="1"/>
          <p:nvPr/>
        </p:nvSpPr>
        <p:spPr>
          <a:xfrm>
            <a:off x="92009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지능형 공장 보급</a:t>
            </a:r>
            <a:endParaRPr/>
          </a:p>
        </p:txBody>
      </p:sp>
      <p:sp>
        <p:nvSpPr>
          <p:cNvPr id="247" name="Google Shape;247;g3f5f3f2c477_2_75"/>
          <p:cNvSpPr txBox="1"/>
          <p:nvPr/>
        </p:nvSpPr>
        <p:spPr>
          <a:xfrm>
            <a:off x="92009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산업연구원 표본 조사 기준 전체 평균 산재 감소 성과</a:t>
            </a:r>
            <a:endParaRPr/>
          </a:p>
        </p:txBody>
      </p:sp>
      <p:pic>
        <p:nvPicPr>
          <p:cNvPr descr="image.png" id="248" name="Google Shape;248;g3f5f3f2c477_2_7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03" y="4638526"/>
            <a:ext cx="111171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g3f5f3f2c477_2_75"/>
          <p:cNvSpPr txBox="1"/>
          <p:nvPr/>
        </p:nvSpPr>
        <p:spPr>
          <a:xfrm>
            <a:off x="571485" y="476250"/>
            <a:ext cx="1160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실증 데이터 요약 : 첨단 기술 도입의 산재 감소 성과</a:t>
            </a:r>
            <a:endParaRPr/>
          </a:p>
        </p:txBody>
      </p:sp>
      <p:sp>
        <p:nvSpPr>
          <p:cNvPr id="250" name="Google Shape;250;g3f5f3f2c477_2_75"/>
          <p:cNvSpPr/>
          <p:nvPr/>
        </p:nvSpPr>
        <p:spPr>
          <a:xfrm>
            <a:off x="571485" y="1028700"/>
            <a:ext cx="110487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5" name="Google Shape;255;g3f5f3f2c477_2_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90625" y="-163362"/>
            <a:ext cx="12191674" cy="685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g3f5f3f2c477_2_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g3f5f3f2c477_2_1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21153" y="571500"/>
            <a:ext cx="799037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g3f5f3f2c477_2_102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안전장비의 사고 예방 효과</a:t>
            </a:r>
            <a:endParaRPr/>
          </a:p>
        </p:txBody>
      </p:sp>
      <p:sp>
        <p:nvSpPr>
          <p:cNvPr id="259" name="Google Shape;259;g3f5f3f2c477_2_102"/>
          <p:cNvSpPr txBox="1"/>
          <p:nvPr/>
        </p:nvSpPr>
        <p:spPr>
          <a:xfrm>
            <a:off x="571485" y="1752600"/>
            <a:ext cx="5333858" cy="776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국토교통부 지원사업 분석 결과, 지능형 CCTV 및 충돌방지장치 등 스마트 안전장비를 적용한 현장의 재해율이 미적용 현장 대비 현저히 낮음이 확인되었습니다.</a:t>
            </a:r>
            <a:endParaRPr/>
          </a:p>
        </p:txBody>
      </p:sp>
      <p:pic>
        <p:nvPicPr>
          <p:cNvPr descr="image.png" id="260" name="Google Shape;260;g3f5f3f2c477_2_10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f5f3f2c477_2_102"/>
          <p:cNvSpPr txBox="1"/>
          <p:nvPr/>
        </p:nvSpPr>
        <p:spPr>
          <a:xfrm>
            <a:off x="914376" y="2672357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재해율 22.56% 감소: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스마트 현장 사고발생률 0.357% vs 전체 현장 0.461%</a:t>
            </a:r>
            <a:endParaRPr/>
          </a:p>
        </p:txBody>
      </p:sp>
      <p:sp>
        <p:nvSpPr>
          <p:cNvPr id="262" name="Google Shape;262;g3f5f3f2c477_2_102"/>
          <p:cNvSpPr txBox="1"/>
          <p:nvPr/>
        </p:nvSpPr>
        <p:spPr>
          <a:xfrm>
            <a:off x="914376" y="3361729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표본 규모: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지원 현장 123곳 (근로자 4,481명) vs 전체 현장 (근로자 576,224명)</a:t>
            </a:r>
            <a:endParaRPr/>
          </a:p>
        </p:txBody>
      </p:sp>
      <p:sp>
        <p:nvSpPr>
          <p:cNvPr id="263" name="Google Shape;263;g3f5f3f2c477_2_102"/>
          <p:cNvSpPr txBox="1"/>
          <p:nvPr/>
        </p:nvSpPr>
        <p:spPr>
          <a:xfrm>
            <a:off x="914376" y="4051101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방향: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지원 대상을 130개에서 200개 현장으로 지속 확대 및 인센티브 제공</a:t>
            </a:r>
            <a:endParaRPr/>
          </a:p>
        </p:txBody>
      </p:sp>
      <p:pic>
        <p:nvPicPr>
          <p:cNvPr descr="image.png" id="264" name="Google Shape;264;g3f5f3f2c477_2_10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485" y="268664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g3f5f3f2c477_2_10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3376017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g3f5f3f2c477_2_10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4065389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g3f5f3f2c477_2_102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건설현장 스마트 안전장비 지원사업 성과</a:t>
            </a:r>
            <a:endParaRPr/>
          </a:p>
        </p:txBody>
      </p:sp>
      <p:sp>
        <p:nvSpPr>
          <p:cNvPr id="268" name="Google Shape;268;g3f5f3f2c477_2_102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g3f5f3f2c477_2_102"/>
          <p:cNvSpPr txBox="1"/>
          <p:nvPr/>
        </p:nvSpPr>
        <p:spPr>
          <a:xfrm>
            <a:off x="8801050" y="6343900"/>
            <a:ext cx="30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600">
                <a:solidFill>
                  <a:schemeClr val="dk1"/>
                </a:solidFill>
              </a:rPr>
              <a:t>출처 1:</a:t>
            </a:r>
            <a:r>
              <a:rPr lang="en-US" sz="600">
                <a:solidFill>
                  <a:schemeClr val="dk1"/>
                </a:solidFill>
              </a:rPr>
              <a:t> 국토교통부·국토안전관리원, 「스마트안전장비 지원사업 효과 분석('23)」</a:t>
            </a:r>
            <a:endParaRPr sz="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4" name="Google Shape;274;g3f5f3f2c477_2_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5212"/>
            <a:ext cx="12191674" cy="685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g3f5f3f2c477_2_1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85" y="3704629"/>
            <a:ext cx="5333858" cy="761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6" name="Google Shape;276;g3f5f3f2c477_2_1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7" name="Google Shape;277;g3f5f3f2c477_2_1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21153" y="571500"/>
            <a:ext cx="799037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g3f5f3f2c477_2_119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행정 데이터 및 PSM 분석을 통한 검증</a:t>
            </a:r>
            <a:endParaRPr/>
          </a:p>
        </p:txBody>
      </p:sp>
      <p:sp>
        <p:nvSpPr>
          <p:cNvPr id="279" name="Google Shape;279;g3f5f3f2c477_2_119"/>
          <p:cNvSpPr txBox="1"/>
          <p:nvPr/>
        </p:nvSpPr>
        <p:spPr>
          <a:xfrm>
            <a:off x="571485" y="1752600"/>
            <a:ext cx="5333858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성향점수매칭(PSM) 기법과 고용노동부 행정 데이터를 적극 활용하여 신뢰도를 제고한 최신 성과 분석 결과입니다.</a:t>
            </a:r>
            <a:endParaRPr/>
          </a:p>
        </p:txBody>
      </p:sp>
      <p:sp>
        <p:nvSpPr>
          <p:cNvPr id="280" name="Google Shape;280;g3f5f3f2c477_2_119"/>
          <p:cNvSpPr txBox="1"/>
          <p:nvPr/>
        </p:nvSpPr>
        <p:spPr>
          <a:xfrm>
            <a:off x="809603" y="3857029"/>
            <a:ext cx="490524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0369A1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도입은 생산성 향상뿐만 아니라 근로자 안전 확보라는 양대 경영 성과를 동시에 창출합니다.</a:t>
            </a:r>
            <a:endParaRPr/>
          </a:p>
        </p:txBody>
      </p:sp>
      <p:pic>
        <p:nvPicPr>
          <p:cNvPr descr="image.png" id="281" name="Google Shape;281;g3f5f3f2c477_2_1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f5f3f2c477_2_119"/>
          <p:cNvSpPr txBox="1"/>
          <p:nvPr/>
        </p:nvSpPr>
        <p:spPr>
          <a:xfrm>
            <a:off x="914376" y="2413396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경영개선 성과: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스마트공장 구축 후 산업재해 18.3% 감소 달성</a:t>
            </a:r>
            <a:endParaRPr/>
          </a:p>
        </p:txBody>
      </p:sp>
      <p:sp>
        <p:nvSpPr>
          <p:cNvPr id="283" name="Google Shape;283;g3f5f3f2c477_2_119"/>
          <p:cNvSpPr txBox="1"/>
          <p:nvPr/>
        </p:nvSpPr>
        <p:spPr>
          <a:xfrm>
            <a:off x="914376" y="2843807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공정개선 성과: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생산성 30%↑, 품질 43.5%↑, 불량률 43.5%↓</a:t>
            </a:r>
            <a:endParaRPr/>
          </a:p>
        </p:txBody>
      </p:sp>
      <p:sp>
        <p:nvSpPr>
          <p:cNvPr id="284" name="Google Shape;284;g3f5f3f2c477_2_119"/>
          <p:cNvSpPr txBox="1"/>
          <p:nvPr/>
        </p:nvSpPr>
        <p:spPr>
          <a:xfrm>
            <a:off x="914376" y="3274218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고용 및 매출: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기업당 평균 고용 3.0명 증가, 매출액 7.7% 증가</a:t>
            </a:r>
            <a:endParaRPr/>
          </a:p>
        </p:txBody>
      </p:sp>
      <p:pic>
        <p:nvPicPr>
          <p:cNvPr descr="image.png" id="285" name="Google Shape;285;g3f5f3f2c477_2_1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2427684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g3f5f3f2c477_2_1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285809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g3f5f3f2c477_2_1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71485" y="3288506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g3f5f3f2c477_2_119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구축과 산업재해 감소</a:t>
            </a:r>
            <a:endParaRPr/>
          </a:p>
        </p:txBody>
      </p:sp>
      <p:sp>
        <p:nvSpPr>
          <p:cNvPr id="289" name="Google Shape;289;g3f5f3f2c477_2_119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g3f5f3f2c477_2_119"/>
          <p:cNvSpPr txBox="1"/>
          <p:nvPr/>
        </p:nvSpPr>
        <p:spPr>
          <a:xfrm>
            <a:off x="9030300" y="6584800"/>
            <a:ext cx="25899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출처:</a:t>
            </a:r>
            <a:r>
              <a:rPr b="1" lang="en-US" sz="600">
                <a:solidFill>
                  <a:schemeClr val="dk1"/>
                </a:solidFill>
              </a:rPr>
              <a:t>출처 1:</a:t>
            </a:r>
            <a:r>
              <a:rPr lang="en-US" sz="600">
                <a:solidFill>
                  <a:schemeClr val="dk1"/>
                </a:solidFill>
              </a:rPr>
              <a:t> 중소벤처기업부, 「스마트공장 구축 후 성과 분석」 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5" name="Google Shape;295;g3f5f3f2c477_2_1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5" cy="68578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g3f5f3f2c477_2_1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g3f5f3f2c477_2_1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7806" y="571500"/>
            <a:ext cx="932383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g3f5f3f2c477_2_138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고위험·육체 노동 재배치 효과</a:t>
            </a:r>
            <a:endParaRPr/>
          </a:p>
        </p:txBody>
      </p:sp>
      <p:sp>
        <p:nvSpPr>
          <p:cNvPr id="299" name="Google Shape;299;g3f5f3f2c477_2_138"/>
          <p:cNvSpPr txBox="1"/>
          <p:nvPr/>
        </p:nvSpPr>
        <p:spPr>
          <a:xfrm>
            <a:off x="571485" y="1752600"/>
            <a:ext cx="5333858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노출도가 증가함에 따라 고위험 작업에서 노동자가 이탈하고 안전한 업무로 재배치되어 산재 위험이 대폭 감소합니다.</a:t>
            </a:r>
            <a:endParaRPr/>
          </a:p>
        </p:txBody>
      </p:sp>
      <p:pic>
        <p:nvPicPr>
          <p:cNvPr descr="image.png" id="300" name="Google Shape;300;g3f5f3f2c477_2_1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g3f5f3f2c477_2_138"/>
          <p:cNvSpPr txBox="1"/>
          <p:nvPr/>
        </p:nvSpPr>
        <p:spPr>
          <a:xfrm>
            <a:off x="914376" y="2413396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산재 발생률: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로봇 노출 표준편차 1 증가 시 산재 발생률 8% 감소</a:t>
            </a:r>
            <a:endParaRPr/>
          </a:p>
        </p:txBody>
      </p:sp>
      <p:sp>
        <p:nvSpPr>
          <p:cNvPr id="302" name="Google Shape;302;g3f5f3f2c477_2_138"/>
          <p:cNvSpPr txBox="1"/>
          <p:nvPr/>
        </p:nvSpPr>
        <p:spPr>
          <a:xfrm>
            <a:off x="914376" y="2843807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중증 사고 대폭 감소: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영구 장애 등 중증 재해 사례에서 -16.9% 감소</a:t>
            </a:r>
            <a:endParaRPr/>
          </a:p>
        </p:txBody>
      </p:sp>
      <p:sp>
        <p:nvSpPr>
          <p:cNvPr id="303" name="Google Shape;303;g3f5f3f2c477_2_138"/>
          <p:cNvSpPr txBox="1"/>
          <p:nvPr/>
        </p:nvSpPr>
        <p:spPr>
          <a:xfrm>
            <a:off x="914376" y="3274218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근로자 건강 개선: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저숙련 노동자의 건강 악화 보고 비율 감소</a:t>
            </a:r>
            <a:endParaRPr/>
          </a:p>
        </p:txBody>
      </p:sp>
      <p:pic>
        <p:nvPicPr>
          <p:cNvPr descr="image.png" id="304" name="Google Shape;304;g3f5f3f2c477_2_1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485" y="2427684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g3f5f3f2c477_2_13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285809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g3f5f3f2c477_2_13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3288506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g3f5f3f2c477_2_138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도입이 근로자 건강 및 산재에 미치는 영향</a:t>
            </a:r>
            <a:endParaRPr/>
          </a:p>
        </p:txBody>
      </p:sp>
      <p:sp>
        <p:nvSpPr>
          <p:cNvPr id="308" name="Google Shape;308;g3f5f3f2c477_2_138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g3f5f3f2c477_2_138"/>
          <p:cNvSpPr txBox="1"/>
          <p:nvPr/>
        </p:nvSpPr>
        <p:spPr>
          <a:xfrm>
            <a:off x="8716100" y="6343900"/>
            <a:ext cx="30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">
                <a:solidFill>
                  <a:schemeClr val="dk1"/>
                </a:solidFill>
              </a:rPr>
              <a:t>출처 3:</a:t>
            </a:r>
            <a:r>
              <a:rPr lang="en-US" sz="600">
                <a:solidFill>
                  <a:schemeClr val="dk1"/>
                </a:solidFill>
              </a:rPr>
              <a:t> 학술논문 「로봇이 직장에 미치는 영향: 한국의 산업재해 및 근로자 건강」</a:t>
            </a:r>
            <a:endParaRPr sz="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4" name="Google Shape;314;g3f5f3f2c477_6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8"/>
            <a:ext cx="12191674" cy="685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g3f5f3f2c477_6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75" y="1314450"/>
            <a:ext cx="5352925" cy="2659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g3f5f3f2c477_6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7283" y="1314450"/>
            <a:ext cx="5352907" cy="40003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g3f5f3f2c477_6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87806" y="561975"/>
            <a:ext cx="932383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f5f3f2c477_6_0"/>
          <p:cNvSpPr txBox="1"/>
          <p:nvPr/>
        </p:nvSpPr>
        <p:spPr>
          <a:xfrm>
            <a:off x="771504" y="1514475"/>
            <a:ext cx="520051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42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284C7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제조혁신 종합 분석</a:t>
            </a:r>
            <a:endParaRPr/>
          </a:p>
        </p:txBody>
      </p:sp>
      <p:sp>
        <p:nvSpPr>
          <p:cNvPr id="319" name="Google Shape;319;g3f5f3f2c477_6_0"/>
          <p:cNvSpPr txBox="1"/>
          <p:nvPr/>
        </p:nvSpPr>
        <p:spPr>
          <a:xfrm>
            <a:off x="771504" y="1885950"/>
            <a:ext cx="49528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지능형공장(스마트공장) 보급 및 제조데이터 활용체계 구축에 따른 핵심 성과 보고 내용:</a:t>
            </a:r>
            <a:endParaRPr/>
          </a:p>
        </p:txBody>
      </p:sp>
      <p:pic>
        <p:nvPicPr>
          <p:cNvPr descr="image.png" id="320" name="Google Shape;320;g3f5f3f2c477_6_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76808" y="1323975"/>
            <a:ext cx="5333858" cy="3981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g3f5f3f2c477_6_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04" y="1543050"/>
            <a:ext cx="148228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g3f5f3f2c477_6_0"/>
          <p:cNvSpPr txBox="1"/>
          <p:nvPr/>
        </p:nvSpPr>
        <p:spPr>
          <a:xfrm>
            <a:off x="914376" y="249555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3" name="Google Shape;323;g3f5f3f2c477_6_0"/>
          <p:cNvSpPr txBox="1"/>
          <p:nvPr/>
        </p:nvSpPr>
        <p:spPr>
          <a:xfrm>
            <a:off x="961999" y="249555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기업 경쟁력 대폭 향상: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생산성 28.5%↑, 품질 42.5%↑, 매출액 7.4%↑, 납기 준수율 16.4%↑ 등 실질적 재무·운영 성과 증대</a:t>
            </a:r>
            <a:endParaRPr/>
          </a:p>
        </p:txBody>
      </p:sp>
      <p:sp>
        <p:nvSpPr>
          <p:cNvPr id="324" name="Google Shape;324;g3f5f3f2c477_6_0"/>
          <p:cNvSpPr txBox="1"/>
          <p:nvPr/>
        </p:nvSpPr>
        <p:spPr>
          <a:xfrm>
            <a:off x="914376" y="304800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5" name="Google Shape;325;g3f5f3f2c477_6_0"/>
          <p:cNvSpPr txBox="1"/>
          <p:nvPr/>
        </p:nvSpPr>
        <p:spPr>
          <a:xfrm>
            <a:off x="961999" y="304800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일자리 질 개선: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자동화 및 디지털 전환을 통해 기업당 평균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2.6명의 고용 증가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창출</a:t>
            </a:r>
            <a:endParaRPr/>
          </a:p>
        </p:txBody>
      </p:sp>
      <p:sp>
        <p:nvSpPr>
          <p:cNvPr id="326" name="Google Shape;326;g3f5f3f2c477_6_0"/>
          <p:cNvSpPr txBox="1"/>
          <p:nvPr/>
        </p:nvSpPr>
        <p:spPr>
          <a:xfrm>
            <a:off x="914376" y="360045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7" name="Google Shape;327;g3f5f3f2c477_6_0"/>
          <p:cNvSpPr txBox="1"/>
          <p:nvPr/>
        </p:nvSpPr>
        <p:spPr>
          <a:xfrm>
            <a:off x="961999" y="360045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안전터 구축: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위험 공정 개선 및 스마트 관제를 통한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산업재해 6.2% 감소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달성</a:t>
            </a:r>
            <a:endParaRPr/>
          </a:p>
        </p:txBody>
      </p:sp>
      <p:sp>
        <p:nvSpPr>
          <p:cNvPr id="328" name="Google Shape;328;g3f5f3f2c477_6_0"/>
          <p:cNvSpPr txBox="1"/>
          <p:nvPr/>
        </p:nvSpPr>
        <p:spPr>
          <a:xfrm>
            <a:off x="571485" y="476250"/>
            <a:ext cx="11601141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근거 자료 및 원문 보고서 내용</a:t>
            </a:r>
            <a:endParaRPr/>
          </a:p>
        </p:txBody>
      </p:sp>
      <p:sp>
        <p:nvSpPr>
          <p:cNvPr id="329" name="Google Shape;329;g3f5f3f2c477_6_0"/>
          <p:cNvSpPr/>
          <p:nvPr/>
        </p:nvSpPr>
        <p:spPr>
          <a:xfrm>
            <a:off x="571485" y="100965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g3f5f3f2c477_6_0"/>
          <p:cNvSpPr txBox="1"/>
          <p:nvPr/>
        </p:nvSpPr>
        <p:spPr>
          <a:xfrm>
            <a:off x="9313200" y="6396925"/>
            <a:ext cx="2307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">
                <a:solidFill>
                  <a:schemeClr val="dk1"/>
                </a:solidFill>
              </a:rPr>
              <a:t>출처 1:</a:t>
            </a:r>
            <a:r>
              <a:rPr lang="en-US" sz="600">
                <a:solidFill>
                  <a:schemeClr val="dk1"/>
                </a:solidFill>
              </a:rPr>
              <a:t> 산업연구원, 「지능형공장 도입 효과 분석('20)」</a:t>
            </a:r>
            <a:endParaRPr b="1" sz="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</a:t>
            </a:r>
            <a:endParaRPr/>
          </a:p>
        </p:txBody>
      </p:sp>
      <p:sp>
        <p:nvSpPr>
          <p:cNvPr id="336" name="Google Shape;336;p11"/>
          <p:cNvSpPr txBox="1"/>
          <p:nvPr/>
        </p:nvSpPr>
        <p:spPr>
          <a:xfrm>
            <a:off x="822960" y="137160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도입현장 123개소는 무작위 표본이 아닌 지원사업 선정 현장 → 선택 편향 가능성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교란변수(현장 규모·관리 수준 등) 통제 없음 → 인과 단정 불가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전국 근로자 수 576,224명은 논문 인용 기사 원자료 기준(본문 '약 570만'은 표기 오류)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표본·사건 수 확대 시 검정력 개선 여지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