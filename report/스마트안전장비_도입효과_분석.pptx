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스마트 안전장비 도입 효과 분석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CFDAE8"/>
                </a:solidFill>
                <a:latin typeface="맑은 고딕"/>
              </a:rPr>
              <a:t>비율검정(Two-proportion test) 기반 통계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AFBED0"/>
                </a:solidFill>
                <a:latin typeface="맑은 고딕"/>
              </a:rPr>
              <a:t>K-NAVI · industrial-data  |  근거: 류정·박인선(2025), Crisisonomy 21(6) / News1(2024)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배경 ·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44E52"/>
                </a:solidFill>
                <a:latin typeface="맑은 고딕"/>
              </a:rPr>
              <a:t>로봇 도입만으로 사고가 줄어드는지 통계로 확인한다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가설: 스마트장비·로봇 도입이 산업재해(재해율)를 줄이는가?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접근: 도입 현장과 전국 평균의 재해율을 정형데이터 분석으로 비교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재해율은 '재해 발생 여부'의 비율 데이터 → 평균 비교(t-검정)가 아니라 비율검정이 적합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결과를 K-NAVI(정밀 인지·소통 보완 기술)의 필요성 근거로 연결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근거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전국 중소규모 건설현장(2023): 근로자 576,224명 · 사고 2,656명(사망 171 + 부상 2,485) · 재해율 0.461%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스마트 안전장비 지원현장 123개소(2021~2023): 근로자 4,481명 · 사고 16명(사망 1 + 부상 15) · 재해율 0.357%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출처: 류정·박인선(2025), 「건설현장의 스마트 안전장비 성능과 도입 효과 분석」, Crisisonomy / News1(2024)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배경 통계: 고용노동부 산업재해현황, IFR 로봇밀도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도입 효과 (1) — 사고재해율 비교</a:t>
            </a:r>
          </a:p>
        </p:txBody>
      </p:sp>
      <p:pic>
        <p:nvPicPr>
          <p:cNvPr id="3" name="Picture 2" descr="10_스마트안전장비_지원현장_사고재해율_비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882" y="1234440"/>
            <a:ext cx="623993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맑은 고딕"/>
              </a:rPr>
              <a:t>전국 평균 0.461% → 지원현장 0.357% (상대 -22.56%) → 본 연구 현장 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도입 효과 (2) — 사망자 · 부상자 수</a:t>
            </a:r>
          </a:p>
        </p:txBody>
      </p:sp>
      <p:pic>
        <p:nvPicPr>
          <p:cNvPr id="3" name="Picture 2" descr="11_스마트안전장비_사망자_부상자_비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489" y="1234440"/>
            <a:ext cx="8786716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맑은 고딕"/>
              </a:rPr>
              <a:t>절대 건수는 모집단 규모(576,224 vs 4,481) 차이를 반영 — 규모 보정 비교는 재해율(%) 기준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검증 방법 — 비율검정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44E52"/>
                </a:solidFill>
                <a:latin typeface="맑은 고딕"/>
              </a:rPr>
              <a:t>H0는 목표와 반대로 '효과 없음'에 두고, 데이터로 뒤집을 수 있는지 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귀무가설 H0: 전국과 도입현장의 재해율이 같다 (효과 없음)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대립가설 H1: 도입현장 재해율이 더 낮다 (단측, α=0.05)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① 2표본 비율 Z-검정 (정규근사)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② Fisher 정확검정 (사고가 드문 사건이라 근사 없이 정확 확률로 재확인)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③ 95% 신뢰구간으로 차이의 크기·불확실성 제시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검증 (1) — 2표본 비율 Z-검정</a:t>
            </a:r>
          </a:p>
        </p:txBody>
      </p:sp>
      <p:pic>
        <p:nvPicPr>
          <p:cNvPr id="3" name="Picture 2" descr="01_Z검정_정규분포_기각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98" y="1234440"/>
            <a:ext cx="7644899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맑은 고딕"/>
              </a:rPr>
              <a:t>관측 z=1.023 &lt; 임계값 1.645 → 기각역 밖 → 유의하지 않음 (단측 p=0.153)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검증 (2) — Fisher 정확검정</a:t>
            </a:r>
          </a:p>
        </p:txBody>
      </p:sp>
      <p:pic>
        <p:nvPicPr>
          <p:cNvPr id="3" name="Picture 2" descr="02_Fisher_초기하분포_p값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98" y="1234440"/>
            <a:ext cx="7644899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맑은 고딕"/>
              </a:rPr>
              <a:t>관측 16건 vs H0 기대 20.6건 · P(X≤16)=0.182 = Fisher p · OR=0.774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종합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737360"/>
          <a:ext cx="9966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291840"/>
                <a:gridCol w="274320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검정 방법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통계량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유의 여부(α=0.05)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2표본 비율 Z-검정 (단측)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z=1.023, p=0.153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유의하지 않음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Fisher 정확검정 (단측)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OR=0.774, p=0.182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유의하지 않음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95% 신뢰구간 (차이)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[-0.072%p, 0.279%p]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0 포함 → 유의하지 않음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44E52"/>
                </a:solidFill>
                <a:latin typeface="맑은 고딕"/>
              </a:rPr>
              <a:t>세 방법 모두 결론 일치: 관찰된 감소는 방향성만 있고 통계적으로 유의하지 않음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결론 · 해석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44E52"/>
                </a:solidFill>
                <a:latin typeface="맑은 고딕"/>
              </a:rPr>
              <a:t>방향은 감소, 그러나 확정 입증에는 데이터가 더 필요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도입현장 재해율이 전국 평균 대비 22.56% 낮게 관찰됨 (0.357% vs 0.461%)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그러나 통계적 유의성은 확인되지 않음 (Fisher p≈0.18, 95% CI가 0 포함)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원인: 사고는 드문 사건 + 도입현장 표본(4,481명·16건)이 작아 검정력 부족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'유의하지 않음'은 '효과 없음'의 증명이 아니라 '판단 보류'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→ 방향성 있는 정황 근거로서 K-NAVI 같은 정밀 안전기술과 데이터 축적의 필요성을 뒷받침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도입현장 123개소는 무작위 표본이 아닌 지원사업 선정 현장 → 선택 편향 가능성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교란변수(현장 규모·관리 수준 등) 통제 없음 → 인과 단정 불가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전국 근로자 수 576,224명은 논문 인용 기사 원자료 기준(본문 '약 570만'은 표기 오류)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•  표본·사건 수 확대 시 검정력 개선 여지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